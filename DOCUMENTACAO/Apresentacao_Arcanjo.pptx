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57" r:id="rId4"/>
    <p:sldId id="265" r:id="rId5"/>
    <p:sldId id="258" r:id="rId6"/>
    <p:sldId id="266" r:id="rId7"/>
    <p:sldId id="259" r:id="rId8"/>
    <p:sldId id="260" r:id="rId9"/>
    <p:sldId id="267" r:id="rId10"/>
    <p:sldId id="262" r:id="rId11"/>
    <p:sldId id="268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33F50"/>
    <a:srgbClr val="090B1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851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-96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777531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8614804-9E35-7507-239F-01862710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F7021CD-1A95-7320-97F9-124B83627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4156AE6-5925-C59B-30C5-3250AC7F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99F74D9-70AD-49B5-1B20-BCEADF72B0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4981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B3D27BD-2B72-4338-6B7E-060839F55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2C52CE6-296B-7219-0A6B-72A5246D4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49376FF-42AC-6C5D-9210-CF1ACB8B7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D6A10B4-1DCD-8F0D-1BC1-A6F816001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7675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6EFE8F5-ACE4-A818-4D89-B660F624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9580D81-DF17-E09B-567E-BE243CA3A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3E50188-629C-7AF8-7770-3513B994F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AD76284-FF5F-C6F5-CDEA-3AA006EFA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39962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722C7F0-5C1B-E922-BDED-F42F855D9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6E16FFD-9A6B-4B23-E8C3-534E9D263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135A8CD-C2FD-CDCB-3523-70E4882EA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2B892CC-8B50-0963-4607-3DEB1B7401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2954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39EC455-A813-FF28-0C0C-5C20AE43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BC1271D-E481-8DD3-3CA4-931BAC13A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9218F40-57C2-7A3C-237B-8751AC765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7D1966-FA83-A59E-502E-E64252606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4064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Gabriel-Rehbein/Arcanj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xmlns="" id="{9B7AD9F6-8CE7-4299-8FC6-328F4DCD3F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890338" y="3287698"/>
            <a:ext cx="3734014" cy="9185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ARCANJO</a:t>
            </a:r>
            <a:endParaRPr lang="en-US" sz="5400">
              <a:latin typeface="+mj-lt"/>
              <a:ea typeface="+mj-ea"/>
              <a:cs typeface="+mj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890339" y="4636008"/>
            <a:ext cx="3734014" cy="157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Rede social de </a:t>
            </a:r>
            <a:r>
              <a:rPr lang="en-US" sz="2400" dirty="0" err="1"/>
              <a:t>portfólios</a:t>
            </a:r>
            <a:r>
              <a:rPr lang="en-US" sz="2400" dirty="0"/>
              <a:t> para </a:t>
            </a:r>
            <a:r>
              <a:rPr lang="en-US" sz="2400" dirty="0" err="1"/>
              <a:t>transformar</a:t>
            </a:r>
            <a:r>
              <a:rPr lang="en-US" sz="2400" dirty="0"/>
              <a:t> </a:t>
            </a:r>
            <a:r>
              <a:rPr lang="en-US" sz="2400" dirty="0" err="1"/>
              <a:t>projetos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b="1" i="1" dirty="0" err="1"/>
              <a:t>visibilidade</a:t>
            </a:r>
            <a:r>
              <a:rPr lang="en-US" sz="2400" b="1" i="1" dirty="0"/>
              <a:t> </a:t>
            </a:r>
            <a:r>
              <a:rPr lang="en-US" sz="2400" b="1" i="1" dirty="0" err="1"/>
              <a:t>profissional</a:t>
            </a:r>
            <a:r>
              <a:rPr lang="en-US" sz="2400" b="1" i="1" dirty="0"/>
              <a:t>.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xmlns="" id="{F49775AF-8896-43EE-92C6-83497D6DC5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/mnt/data/a_high_detail_futuristic_tech_illustration_digit_batch_2.png"/>
          <p:cNvPicPr>
            <a:picLocks noChangeAspect="1"/>
          </p:cNvPicPr>
          <p:nvPr/>
        </p:nvPicPr>
        <p:blipFill>
          <a:blip r:embed="rId3"/>
          <a:srcRect l="21790" r="2179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9" name="Text 6">
            <a:hlinkClick r:id="rId4"/>
          </p:cNvPr>
          <p:cNvSpPr/>
          <p:nvPr/>
        </p:nvSpPr>
        <p:spPr>
          <a:xfrm>
            <a:off x="997900" y="6420421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050" u="sng" dirty="0">
                <a:solidFill>
                  <a:srgbClr val="94A3B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GitHub: Gabriel-Rehbein/Arcanjo</a:t>
            </a:r>
            <a:endParaRPr lang="en-US" sz="105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xmlns="" id="{4EBAA60F-72DF-E3DA-E0CE-AD292E6ED848}"/>
              </a:ext>
            </a:extLst>
          </p:cNvPr>
          <p:cNvSpPr/>
          <p:nvPr/>
        </p:nvSpPr>
        <p:spPr>
          <a:xfrm>
            <a:off x="9885526" y="598932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A855F7">
              <a:alpha val="84000"/>
            </a:srgbClr>
          </a:solidFill>
          <a:ln w="12700">
            <a:solidFill>
              <a:srgbClr val="A855F7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xmlns="" id="{02322983-146D-7F27-EFD7-9FD3E129749C}"/>
              </a:ext>
            </a:extLst>
          </p:cNvPr>
          <p:cNvSpPr/>
          <p:nvPr/>
        </p:nvSpPr>
        <p:spPr>
          <a:xfrm>
            <a:off x="9976966" y="60761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F8FAFC"/>
                </a:solidFill>
              </a:rPr>
              <a:t>Projeto de Desenvolvimento II</a:t>
            </a:r>
            <a:endParaRPr lang="en-US" sz="85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xmlns="" id="{49C671EF-5BB5-641D-1E6C-FC6F2E1CC0F2}"/>
              </a:ext>
            </a:extLst>
          </p:cNvPr>
          <p:cNvSpPr/>
          <p:nvPr/>
        </p:nvSpPr>
        <p:spPr>
          <a:xfrm>
            <a:off x="9885526" y="5552565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60A5FA">
              <a:alpha val="84000"/>
            </a:srgbClr>
          </a:solidFill>
          <a:ln w="12700">
            <a:solidFill>
              <a:srgbClr val="60A5F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xmlns="" id="{0E25E129-AA5D-9929-F458-F9E574A9029B}"/>
              </a:ext>
            </a:extLst>
          </p:cNvPr>
          <p:cNvSpPr/>
          <p:nvPr/>
        </p:nvSpPr>
        <p:spPr>
          <a:xfrm>
            <a:off x="9976966" y="5639433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F8FAFC"/>
                </a:solidFill>
              </a:rPr>
              <a:t>Gabriel Menezes Rehbein</a:t>
            </a:r>
            <a:endParaRPr lang="en-US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7EC4186-28B1-9014-07F2-9F6936F3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4B713E1C-56A6-3EC3-5D0A-774705E8D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4358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que o Arcanjo resolve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Projetos bons existem, mas muitas vezes não chegam a quem contrata.</a:t>
            </a:r>
            <a:endParaRPr lang="en-US" sz="1050" dirty="0"/>
          </a:p>
        </p:txBody>
      </p:sp>
      <p:pic>
        <p:nvPicPr>
          <p:cNvPr id="4" name="Image 0" descr="/mnt/data/a_futuristic_dark_tech_ui_network_visualization_batch_1.png"/>
          <p:cNvPicPr>
            <a:picLocks noChangeAspect="1"/>
          </p:cNvPicPr>
          <p:nvPr/>
        </p:nvPicPr>
        <p:blipFill>
          <a:blip r:embed="rId3"/>
          <a:srcRect l="17260" r="17260"/>
          <a:stretch/>
        </p:blipFill>
        <p:spPr>
          <a:xfrm>
            <a:off x="6126480" y="1234440"/>
            <a:ext cx="55321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17320"/>
            <a:ext cx="4800600" cy="96012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FB7185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Visibilidade fragmentada
</a:t>
            </a:r>
            <a:r>
              <a:rPr lang="en-US" sz="1120" dirty="0">
                <a:solidFill>
                  <a:srgbClr val="CBD5E1"/>
                </a:solidFill>
              </a:rPr>
              <a:t>Portfólios ficam espalhados entre GitHub, LinkedIn, arquivos e redes sociais comuns.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594360" y="2651760"/>
            <a:ext cx="4800600" cy="96012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FBBF24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Avaliação difícil
</a:t>
            </a:r>
            <a:r>
              <a:rPr lang="en-US" sz="1120" dirty="0">
                <a:solidFill>
                  <a:srgbClr val="CBD5E1"/>
                </a:solidFill>
              </a:rPr>
              <a:t>Recrutadores nem sempre conseguem enxergar evolução, contexto e impacto dos projetos.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594360" y="3886200"/>
            <a:ext cx="4800600" cy="96012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22D3EE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Baixa frequência
</a:t>
            </a:r>
            <a:r>
              <a:rPr lang="en-US" sz="1120" dirty="0">
                <a:solidFill>
                  <a:srgbClr val="CBD5E1"/>
                </a:solidFill>
              </a:rPr>
              <a:t>Projetos demoram a ficar prontos; sem rotina de updates, o usuário desaparece.</a:t>
            </a:r>
            <a:endParaRPr lang="en-US" sz="1120" dirty="0"/>
          </a:p>
        </p:txBody>
      </p:sp>
      <p:sp>
        <p:nvSpPr>
          <p:cNvPr id="8" name="Text 5"/>
          <p:cNvSpPr/>
          <p:nvPr/>
        </p:nvSpPr>
        <p:spPr>
          <a:xfrm>
            <a:off x="594360" y="5120640"/>
            <a:ext cx="4800600" cy="713232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34D399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Oportunidade
</a:t>
            </a:r>
            <a:r>
              <a:rPr lang="en-US" sz="1120" dirty="0">
                <a:solidFill>
                  <a:srgbClr val="CBD5E1"/>
                </a:solidFill>
              </a:rPr>
              <a:t>Criar uma vitrine viva de entregas, progresso e networking profissional.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B37485-9170-D501-493F-1B0D7DA8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69C686B8-BF8F-05ED-D7AA-555FCC37F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208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33F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m 30">
            <a:extLst>
              <a:ext uri="{FF2B5EF4-FFF2-40B4-BE49-F238E27FC236}">
                <a16:creationId xmlns:a16="http://schemas.microsoft.com/office/drawing/2014/main" xmlns="" id="{06B085E4-650B-30A3-D4AE-83AB00A801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982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538DC7A-CDAC-11F1-24E8-745206521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E099736A-7B73-FCFD-A441-77FD04907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235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Público-alvo e Personas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Quem publica, quem descobre e quem transforma visibilidade em oportunidade.</a:t>
            </a:r>
            <a:endParaRPr lang="en-US" sz="1050" dirty="0"/>
          </a:p>
        </p:txBody>
      </p:sp>
      <p:pic>
        <p:nvPicPr>
          <p:cNvPr id="4" name="Image 0" descr="/mnt/data/a_futuristic_dark_tech_ui_network_visualization_batch_1.png"/>
          <p:cNvPicPr>
            <a:picLocks noChangeAspect="1"/>
          </p:cNvPicPr>
          <p:nvPr/>
        </p:nvPicPr>
        <p:blipFill>
          <a:blip r:embed="rId3"/>
          <a:srcRect l="18989" r="18989"/>
          <a:stretch/>
        </p:blipFill>
        <p:spPr>
          <a:xfrm>
            <a:off x="548640" y="1133856"/>
            <a:ext cx="493776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6440" y="1143000"/>
            <a:ext cx="2651760" cy="425196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22D3EE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Lucas — dev iniciante
</a:t>
            </a:r>
            <a:r>
              <a:rPr lang="en-US" sz="1120" dirty="0">
                <a:solidFill>
                  <a:srgbClr val="CBD5E1"/>
                </a:solidFill>
              </a:rPr>
              <a:t>Tem bons repositórios no GitHub, mas não consegue explicar impacto, contexto e evolução para empresas.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8823960" y="1143000"/>
            <a:ext cx="2651760" cy="425196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A855F7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Mariana — recrutadora
</a:t>
            </a:r>
            <a:r>
              <a:rPr lang="en-US" sz="1120" dirty="0">
                <a:solidFill>
                  <a:srgbClr val="CBD5E1"/>
                </a:solidFill>
              </a:rPr>
              <a:t>Precisa avaliar candidatos por evidências práticas, tecnologias usadas e clareza de entrega.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731520" y="587044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60A5FA">
              <a:alpha val="84000"/>
            </a:srgbClr>
          </a:solidFill>
          <a:ln w="12700">
            <a:solidFill>
              <a:srgbClr val="60A5F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22960" y="59573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Estudantes de TI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395728" y="5870448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472B6">
              <a:alpha val="84000"/>
            </a:srgbClr>
          </a:solidFill>
          <a:ln w="12700">
            <a:solidFill>
              <a:srgbClr val="F472B6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487168" y="59573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Designers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566160" y="5870448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A855F7">
              <a:alpha val="84000"/>
            </a:srgbClr>
          </a:solidFill>
          <a:ln w="12700">
            <a:solidFill>
              <a:srgbClr val="A855F7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657600" y="595731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Freelancers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828032" y="587044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34D399">
              <a:alpha val="84000"/>
            </a:srgbClr>
          </a:solidFill>
          <a:ln w="12700">
            <a:solidFill>
              <a:srgbClr val="34D399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919472" y="59573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RH e empresas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09360" y="5870448"/>
            <a:ext cx="1170432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84000"/>
            </a:srgbClr>
          </a:solidFill>
          <a:ln w="12700">
            <a:solidFill>
              <a:srgbClr val="22D3EE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00800" y="595731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Comunidades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turistic_dark_tech_ui_network_visualization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funcional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21208" y="8412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O protótipo já demonstra a experiência central de uma rede social de projetos.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85800" y="1234440"/>
            <a:ext cx="2514600" cy="132588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22D3EE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Feed visual
</a:t>
            </a:r>
            <a:r>
              <a:rPr lang="en-US" sz="1120" dirty="0">
                <a:solidFill>
                  <a:srgbClr val="CBD5E1"/>
                </a:solidFill>
              </a:rPr>
              <a:t>Exploração de publicações com foco em projetos e ideias.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3429000" y="1234440"/>
            <a:ext cx="2514600" cy="132588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A855F7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Publicações
</a:t>
            </a:r>
            <a:r>
              <a:rPr lang="en-US" sz="1120" dirty="0">
                <a:solidFill>
                  <a:srgbClr val="CBD5E1"/>
                </a:solidFill>
              </a:rPr>
              <a:t>Título, descrição, tecnologias, imagens e links.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6172200" y="1234440"/>
            <a:ext cx="2514600" cy="132588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F472B6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Interações
</a:t>
            </a:r>
            <a:r>
              <a:rPr lang="en-US" sz="1120" dirty="0">
                <a:solidFill>
                  <a:srgbClr val="CBD5E1"/>
                </a:solidFill>
              </a:rPr>
              <a:t>Curtidas, comentários, salvos e compartilhamentos.</a:t>
            </a:r>
            <a:endParaRPr lang="en-US" sz="1120" dirty="0"/>
          </a:p>
        </p:txBody>
      </p:sp>
      <p:sp>
        <p:nvSpPr>
          <p:cNvPr id="8" name="Text 5"/>
          <p:cNvSpPr/>
          <p:nvPr/>
        </p:nvSpPr>
        <p:spPr>
          <a:xfrm>
            <a:off x="8915400" y="1234440"/>
            <a:ext cx="2514600" cy="132588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34D399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Stories
</a:t>
            </a:r>
            <a:r>
              <a:rPr lang="en-US" sz="1120" dirty="0">
                <a:solidFill>
                  <a:srgbClr val="CBD5E1"/>
                </a:solidFill>
              </a:rPr>
              <a:t>Atualizações rápidas para manter presença contínua.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1645920" y="3429000"/>
            <a:ext cx="2651760" cy="132588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60A5FA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Dashboard
</a:t>
            </a:r>
            <a:r>
              <a:rPr lang="en-US" sz="1120" dirty="0">
                <a:solidFill>
                  <a:srgbClr val="CBD5E1"/>
                </a:solidFill>
              </a:rPr>
              <a:t>Controle dos próprios projetos e atividades.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4754880" y="3429000"/>
            <a:ext cx="2651760" cy="132588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22D3EE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Perfis
</a:t>
            </a:r>
            <a:r>
              <a:rPr lang="en-US" sz="1120" dirty="0">
                <a:solidFill>
                  <a:srgbClr val="CBD5E1"/>
                </a:solidFill>
              </a:rPr>
              <a:t>Vitrine pessoal conectada ao portfólio.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7863840" y="3429000"/>
            <a:ext cx="2651760" cy="1325880"/>
          </a:xfrm>
          <a:prstGeom prst="rect">
            <a:avLst/>
          </a:prstGeom>
          <a:solidFill>
            <a:srgbClr val="12172F">
              <a:alpha val="95000"/>
            </a:srgbClr>
          </a:solidFill>
          <a:ln>
            <a:solidFill>
              <a:srgbClr val="A855F7">
                <a:alpha val="52000"/>
              </a:srgbClr>
            </a:solidFill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</a:rPr>
              <a:t>Mensagens
</a:t>
            </a:r>
            <a:r>
              <a:rPr lang="en-US" sz="1120" dirty="0">
                <a:solidFill>
                  <a:srgbClr val="CBD5E1"/>
                </a:solidFill>
              </a:rPr>
              <a:t>Base para networking e contato direto.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A1D4228-74A6-E445-3B0C-F9FE8A90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922E3902-1817-6839-7F6C-D2FA76A0F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9133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m 44">
            <a:extLst>
              <a:ext uri="{FF2B5EF4-FFF2-40B4-BE49-F238E27FC236}">
                <a16:creationId xmlns:a16="http://schemas.microsoft.com/office/drawing/2014/main" xmlns="" id="{D4D792F6-6636-BB33-CBCE-CDC5C2E30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706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gabri\Downloads\6e1e35d4-87a2-42de-8cb9-06f6a832fa09.png"/>
          <p:cNvPicPr>
            <a:picLocks noChangeAspect="1" noChangeArrowheads="1"/>
          </p:cNvPicPr>
          <p:nvPr/>
        </p:nvPicPr>
        <p:blipFill>
          <a:blip r:embed="rId3"/>
          <a:srcRect b="25895"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AFB0A5D-802C-8700-88C9-E234D33A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gabri\Downloads\ac9f2d3b-8e3e-4e4c-b8fa-808894adcd6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192000" cy="68616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500956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114</Words>
  <Application>Microsoft Office PowerPoint</Application>
  <PresentationFormat>Personalizar</PresentationFormat>
  <Paragraphs>41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Senac-RS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Arcanjo — Plataforma social de portfólios</dc:title>
  <dc:subject>Apresentação do projeto Arcanjo</dc:subject>
  <dc:creator>Gabriel Menezes Rehbein</dc:creator>
  <cp:lastModifiedBy>Gabriel Rehbein</cp:lastModifiedBy>
  <cp:revision>5</cp:revision>
  <dcterms:created xsi:type="dcterms:W3CDTF">2026-06-11T19:58:36Z</dcterms:created>
  <dcterms:modified xsi:type="dcterms:W3CDTF">2026-06-15T15:44:46Z</dcterms:modified>
</cp:coreProperties>
</file>